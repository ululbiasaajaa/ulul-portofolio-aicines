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41080" y="-320040"/>
            <a:ext cx="4023360" cy="2743200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64040" y="182880"/>
            <a:ext cx="3108960" cy="1920240"/>
          </a:xfrm>
          <a:prstGeom prst="roundRect">
            <a:avLst/>
          </a:prstGeom>
          <a:solidFill>
            <a:srgbClr val="19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87000" y="685800"/>
            <a:ext cx="228600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51560"/>
            <a:ext cx="64008" cy="452628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078992"/>
            <a:ext cx="150876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115568"/>
            <a:ext cx="136245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Aptos"/>
              </a:defRPr>
            </a:pPr>
            <a:r>
              <a:t>SOFTWARE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27632"/>
            <a:ext cx="68580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900" b="1">
                <a:solidFill>
                  <a:srgbClr val="F5F7FF"/>
                </a:solidFill>
                <a:latin typeface="Aptos Display"/>
              </a:defRPr>
            </a:pPr>
            <a:r>
              <a:t>Muhammad</a:t>
            </a:r>
            <a:br/>
            <a:r>
              <a:t>Ulul Albab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900" b="1">
                <a:solidFill>
                  <a:srgbClr val="22D3EE"/>
                </a:solidFill>
                <a:latin typeface="Aptos"/>
              </a:defRPr>
            </a:pPr>
            <a:r>
              <a:t>Junior Software Engineer | Full-Stack Web &amp;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86200"/>
            <a:ext cx="6492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>
                <a:solidFill>
                  <a:srgbClr val="9197AE"/>
                </a:solidFill>
                <a:latin typeface="Aptos"/>
              </a:defRPr>
            </a:pPr>
            <a:r>
              <a:t>Building practical products across web applications, backend services,</a:t>
            </a:r>
            <a:br/>
            <a:r>
              <a:t>AI integrations, data systems, and media 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983480"/>
            <a:ext cx="141732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020056"/>
            <a:ext cx="127101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Aptos"/>
              </a:defRPr>
            </a:pPr>
            <a:r>
              <a:t>React / 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983480"/>
            <a:ext cx="132588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5020056"/>
            <a:ext cx="117957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Aptos"/>
              </a:defRPr>
            </a:pPr>
            <a:r>
              <a:t>Node / 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4983480"/>
            <a:ext cx="100584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2232" y="5020056"/>
            <a:ext cx="85953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A855F7"/>
                </a:solidFill>
                <a:latin typeface="Aptos"/>
              </a:defRPr>
            </a:pPr>
            <a:r>
              <a:t>AI /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4983480"/>
            <a:ext cx="123444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5020056"/>
            <a:ext cx="108813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806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9197AE"/>
                </a:solidFill>
                <a:latin typeface="Aptos"/>
              </a:defRPr>
            </a:pPr>
            <a:r>
              <a:t>Bogor, West Java, Indonesia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80644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22D3EE"/>
                </a:solidFill>
                <a:latin typeface="Aptos"/>
              </a:defRPr>
            </a:pPr>
            <a:r>
              <a:t>ulul-portofolio-3odd.vercel.app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428232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9197AE"/>
                </a:solidFill>
                <a:latin typeface="Aptos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F5F7FF"/>
                </a:solidFill>
                <a:latin typeface="Aptos Display"/>
              </a:defRPr>
            </a:pPr>
            <a:r>
              <a:t>From Pharmacy to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>
                <a:solidFill>
                  <a:srgbClr val="9197AE"/>
                </a:solidFill>
                <a:latin typeface="Aptos"/>
              </a:defRPr>
            </a:pPr>
            <a:r>
              <a:t>A practical transition driven by building and shipping real projects.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10512"/>
            <a:ext cx="1051560" cy="3200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6537960" cy="361188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200" b="1">
                <a:solidFill>
                  <a:srgbClr val="F5F7FF"/>
                </a:solidFill>
                <a:latin typeface="Aptos Display"/>
              </a:defRPr>
            </a:pPr>
            <a:r>
              <a:t>Hands-on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5623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>
                <a:solidFill>
                  <a:srgbClr val="DCE0EE"/>
                </a:solidFill>
                <a:latin typeface="Aptos"/>
              </a:defRPr>
            </a:pPr>
            <a:r>
              <a:t>I build full-stack applications and AI-powered products from idea to implementation. My work spans frontend interfaces, backend APIs, authentication, databases, AI APIs, vector search, text-to-speech, and cloud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Aptos"/>
              </a:defRPr>
            </a:pPr>
            <a:r>
              <a:t>Current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F5F7FF"/>
                </a:solidFill>
                <a:latin typeface="Aptos"/>
              </a:defRPr>
            </a:pPr>
            <a:r>
              <a:t>Web engineering • AI products • Backend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148840"/>
            <a:ext cx="3977639" cy="3611880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4688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78892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900" b="1">
                <a:solidFill>
                  <a:srgbClr val="F5F7FF"/>
                </a:solidFill>
                <a:latin typeface="Aptos Display"/>
              </a:defRPr>
            </a:pPr>
            <a:r>
              <a:t>Analytical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38328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DCE0EE"/>
                </a:solidFill>
                <a:latin typeface="Aptos"/>
              </a:defRPr>
            </a:pPr>
            <a:r>
              <a:t>Bachelor's Degree Candidate in Pharmacy</a:t>
            </a:r>
            <a:br/>
            <a:r>
              <a:t>Universitas Pakuan • 2023–Present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343400"/>
            <a:ext cx="2971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197AE"/>
                </a:solidFill>
                <a:latin typeface="Aptos"/>
              </a:defRPr>
            </a:pPr>
            <a:r>
              <a:t>Pharmacy research strengthened my attention to structured data, analytical reasoning, experimental methods, and systematic problem solving.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6428232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9197AE"/>
                </a:solidFill>
                <a:latin typeface="Aptos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Aptos"/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F5F7FF"/>
                </a:solidFill>
                <a:latin typeface="Aptos Display"/>
              </a:defRPr>
            </a:pPr>
            <a:r>
              <a:t>Tools I Actually Build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>
                <a:solidFill>
                  <a:srgbClr val="9197AE"/>
                </a:solidFill>
                <a:latin typeface="Aptos"/>
              </a:defRPr>
            </a:pPr>
            <a:r>
              <a:t>A practical stack across frontend, backend, AI, data, and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10512"/>
            <a:ext cx="1051560" cy="3200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057400" cy="297180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2057400" cy="5486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Aptos Display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926080"/>
            <a:ext cx="166420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DCE0EE"/>
                </a:solidFill>
                <a:latin typeface="Aptos"/>
              </a:defRPr>
            </a:pPr>
            <a:r>
              <a:t>React</a:t>
            </a:r>
            <a:br/>
            <a:r>
              <a:t>Vite</a:t>
            </a:r>
            <a:br/>
            <a:r>
              <a:t>TypeScript / JavaScript</a:t>
            </a:r>
            <a:br/>
            <a:r>
              <a:t>Tailwind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057400"/>
            <a:ext cx="2057400" cy="297180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057400"/>
            <a:ext cx="2057400" cy="5486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2331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Aptos Display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926080"/>
            <a:ext cx="166420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DCE0EE"/>
                </a:solidFill>
                <a:latin typeface="Aptos"/>
              </a:defRPr>
            </a:pPr>
            <a:r>
              <a:t>Node.js / Express</a:t>
            </a:r>
            <a:br/>
            <a:r>
              <a:t>FastAPI / Python</a:t>
            </a:r>
            <a:br/>
            <a:r>
              <a:t>REST APIs</a:t>
            </a:r>
            <a:br/>
            <a:r>
              <a:t>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057400"/>
            <a:ext cx="2057400" cy="297180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057400"/>
            <a:ext cx="2057400" cy="54864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331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Aptos Display"/>
              </a:defRPr>
            </a:pPr>
            <a:r>
              <a:t>AI &amp; 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926080"/>
            <a:ext cx="166420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DCE0EE"/>
                </a:solidFill>
                <a:latin typeface="Aptos"/>
              </a:defRPr>
            </a:pPr>
            <a:r>
              <a:t>Gemini API</a:t>
            </a:r>
            <a:br/>
            <a:r>
              <a:t>RAG / LLM integration</a:t>
            </a:r>
            <a:br/>
            <a:r>
              <a:t>SentenceTransformers</a:t>
            </a:r>
            <a:br/>
            <a:r>
              <a:t>TTS / FFmpeg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057400"/>
            <a:ext cx="2057400" cy="297180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2057400"/>
            <a:ext cx="205740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2331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ptos Display"/>
              </a:defRPr>
            </a:pPr>
            <a:r>
              <a:t>Data &amp;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926080"/>
            <a:ext cx="1664208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DCE0EE"/>
                </a:solidFill>
                <a:latin typeface="Aptos"/>
              </a:defRPr>
            </a:pPr>
            <a:r>
              <a:t>PostgreSQL / pgvector</a:t>
            </a:r>
            <a:br/>
            <a:r>
              <a:t>Firebase / Supabase</a:t>
            </a:r>
            <a:br/>
            <a:r>
              <a:t>Docker</a:t>
            </a:r>
            <a:br/>
            <a:r>
              <a:t>Railway / Vercel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49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9197AE"/>
                </a:solidFill>
                <a:latin typeface="Aptos"/>
              </a:defRPr>
            </a:pPr>
            <a:r>
              <a:t>Engineering strengths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80" y="5285232"/>
            <a:ext cx="1481328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13432" y="5321808"/>
            <a:ext cx="13350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Aptos"/>
              </a:defRPr>
            </a:pPr>
            <a:r>
              <a:t>API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9624" y="5285232"/>
            <a:ext cx="1481328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22776" y="5321808"/>
            <a:ext cx="13350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Aptos"/>
              </a:defRPr>
            </a:pPr>
            <a:r>
              <a:t>Debugging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58968" y="5285232"/>
            <a:ext cx="182880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5321808"/>
            <a:ext cx="16824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A855F7"/>
                </a:solidFill>
                <a:latin typeface="Aptos"/>
              </a:defRPr>
            </a:pPr>
            <a:r>
              <a:t>Modular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15784" y="5285232"/>
            <a:ext cx="1481328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5321808"/>
            <a:ext cx="13350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5128" y="5285232"/>
            <a:ext cx="1481328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5321808"/>
            <a:ext cx="13350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Aptos"/>
              </a:defRPr>
            </a:pPr>
            <a:r>
              <a:t>Git / 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428232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9197AE"/>
                </a:solidFill>
                <a:latin typeface="Aptos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Aptos"/>
              </a:defRPr>
            </a:pPr>
            <a:r>
              <a:t>FEATURED 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F5F7FF"/>
                </a:solidFill>
                <a:latin typeface="Aptos Display"/>
              </a:defRPr>
            </a:pPr>
            <a:r>
              <a:t>PodLearn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>
                <a:solidFill>
                  <a:srgbClr val="9197AE"/>
                </a:solidFill>
                <a:latin typeface="Aptos"/>
              </a:defRPr>
            </a:pPr>
            <a:r>
              <a:t>AI podcast and interactive learning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10512"/>
            <a:ext cx="1051560" cy="32004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703320" cy="3703320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359152"/>
            <a:ext cx="150876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395728"/>
            <a:ext cx="136245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A855F7"/>
                </a:solidFill>
                <a:latin typeface="Aptos"/>
              </a:defRPr>
            </a:pPr>
            <a:r>
              <a:t>AI + MEDIA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2971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300" b="1">
                <a:solidFill>
                  <a:srgbClr val="F5F7FF"/>
                </a:solidFill>
                <a:latin typeface="Aptos Display"/>
              </a:defRPr>
            </a:pPr>
            <a:r>
              <a:t>From learning material</a:t>
            </a:r>
            <a:br/>
            <a:r>
              <a:t>to interactive audio.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PDF / 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21538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9197A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42519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Aptos"/>
              </a:defRPr>
            </a:pPr>
            <a:r>
              <a:t>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21538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9197A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25196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Aptos"/>
              </a:defRPr>
            </a:pPr>
            <a:r>
              <a:t>TTS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846320"/>
            <a:ext cx="2560320" cy="118872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873752"/>
            <a:ext cx="1843430" cy="64008"/>
          </a:xfrm>
          <a:prstGeom prst="roundRect">
            <a:avLst/>
          </a:prstGeom>
          <a:solidFill>
            <a:srgbClr val="F5F7FF"/>
          </a:solidFill>
          <a:ln>
            <a:solidFill>
              <a:srgbClr val="F5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1208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9197AE"/>
                </a:solidFill>
                <a:latin typeface="Aptos"/>
              </a:defRPr>
            </a:pPr>
            <a:r>
              <a:t>Interactive playback + mid-podcast Q&amp;A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057400"/>
            <a:ext cx="6812280" cy="370332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2057400"/>
            <a:ext cx="50292" cy="370332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56048" y="2313432"/>
            <a:ext cx="82296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350008"/>
            <a:ext cx="67665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A855F7"/>
                </a:solidFill>
                <a:latin typeface="Aptos"/>
              </a:defRPr>
            </a:pPr>
            <a:r>
              <a:t>FEATURED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2770632"/>
            <a:ext cx="6217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900" b="1">
                <a:solidFill>
                  <a:srgbClr val="F5F7FF"/>
                </a:solidFill>
                <a:latin typeface="Aptos Display"/>
              </a:defRPr>
            </a:pPr>
            <a:r>
              <a:t>What I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3182112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A855F7"/>
                </a:solidFill>
                <a:latin typeface="Aptos"/>
              </a:defRPr>
            </a:pPr>
            <a:r>
              <a:t>END-TO-END AI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3520440"/>
            <a:ext cx="6217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197AE"/>
                </a:solidFill>
                <a:latin typeface="Aptos"/>
              </a:defRPr>
            </a:pPr>
            <a:r>
              <a:t>A system that converts PDF/text learning materials into structured two-speaker podcast conversations with auto-generated quizzes.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437083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A855F7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4617720"/>
            <a:ext cx="6217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DCE0EE"/>
                </a:solidFill>
                <a:latin typeface="Aptos"/>
              </a:defRPr>
            </a:pPr>
            <a:r>
              <a:t>Node.js • Express • Gemini API • Edge TTS • FFmpeg • Supabase • Google OAuth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5166360"/>
            <a:ext cx="621792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Gemini generates structured podcast scripts and quizzes.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Edge TTS produces multi-speaker audio; FFmpeg handles server-side audio processing.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Segment-by-segment playback and dedicated AI Q&amp;A endpoint.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Google OAuth and persistent podcast history through Supabase.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Debugged Railway deployment issues including TTS timeouts and API rate limits.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428232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9197AE"/>
                </a:solidFill>
                <a:latin typeface="Aptos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FEATURED PROJECT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F5F7FF"/>
                </a:solidFill>
                <a:latin typeface="Aptos Display"/>
              </a:defRPr>
            </a:pPr>
            <a:r>
              <a:t>ScentDNA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>
                <a:solidFill>
                  <a:srgbClr val="9197AE"/>
                </a:solidFill>
                <a:latin typeface="Aptos"/>
              </a:defRPr>
            </a:pPr>
            <a:r>
              <a:t>AI semantic search and recommendation engine.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10512"/>
            <a:ext cx="1051560" cy="3200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657600" cy="365760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514600"/>
            <a:ext cx="2514600" cy="502920"/>
          </a:xfrm>
          <a:prstGeom prst="roundRect">
            <a:avLst/>
          </a:prstGeom>
          <a:solidFill>
            <a:srgbClr val="191D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2432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1">
                <a:solidFill>
                  <a:srgbClr val="F5F7FF"/>
                </a:solidFill>
                <a:latin typeface="Aptos"/>
              </a:defRPr>
            </a:pPr>
            <a:r>
              <a:t>Natural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46120"/>
            <a:ext cx="2514600" cy="502920"/>
          </a:xfrm>
          <a:prstGeom prst="roundRect">
            <a:avLst/>
          </a:prstGeom>
          <a:solidFill>
            <a:srgbClr val="191D2D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35584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1">
                <a:solidFill>
                  <a:srgbClr val="F5F7FF"/>
                </a:solidFill>
                <a:latin typeface="Aptos"/>
              </a:defRPr>
            </a:pPr>
            <a:r>
              <a:t>Embedding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977639"/>
            <a:ext cx="2514600" cy="502920"/>
          </a:xfrm>
          <a:prstGeom prst="roundRect">
            <a:avLst/>
          </a:prstGeom>
          <a:solidFill>
            <a:srgbClr val="191D2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08736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1">
                <a:solidFill>
                  <a:srgbClr val="F5F7FF"/>
                </a:solidFill>
                <a:latin typeface="Aptos"/>
              </a:defRPr>
            </a:pPr>
            <a:r>
              <a:t>pgvector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709160"/>
            <a:ext cx="2514600" cy="502920"/>
          </a:xfrm>
          <a:prstGeom prst="roundRect">
            <a:avLst/>
          </a:prstGeom>
          <a:solidFill>
            <a:srgbClr val="191D2D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81888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1">
                <a:solidFill>
                  <a:srgbClr val="F5F7FF"/>
                </a:solidFill>
                <a:latin typeface="Aptos"/>
              </a:defRPr>
            </a:pPr>
            <a:r>
              <a:t>Gemini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3026664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9197AE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758184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9197AE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4489704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>
                <a:solidFill>
                  <a:srgbClr val="9197AE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4132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0">
                <a:solidFill>
                  <a:srgbClr val="9197AE"/>
                </a:solidFill>
                <a:latin typeface="Aptos"/>
              </a:defRPr>
            </a:pPr>
            <a:r>
              <a:t>Semantic retrieval → contextual recommendation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103120"/>
            <a:ext cx="6858000" cy="365760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2103120"/>
            <a:ext cx="50292" cy="36576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10328" y="2359152"/>
            <a:ext cx="82296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2395728"/>
            <a:ext cx="67665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Aptos"/>
              </a:defRPr>
            </a:pPr>
            <a:r>
              <a:t>FEATURED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2816352"/>
            <a:ext cx="6263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900" b="1">
                <a:solidFill>
                  <a:srgbClr val="F5F7FF"/>
                </a:solidFill>
                <a:latin typeface="Aptos Display"/>
              </a:defRPr>
            </a:pPr>
            <a:r>
              <a:t>What I built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3227832"/>
            <a:ext cx="6263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22D3EE"/>
                </a:solidFill>
                <a:latin typeface="Aptos"/>
              </a:defRPr>
            </a:pPr>
            <a:r>
              <a:t>AI SEARCH + RAG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3566160"/>
            <a:ext cx="6263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197AE"/>
                </a:solidFill>
                <a:latin typeface="Aptos"/>
              </a:defRPr>
            </a:pPr>
            <a:r>
              <a:t>A fragrance search engine that turns natural-language queries into vector embeddings and retrieves relevant products using PostgreSQL pgvector.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441655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22D3EE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4663440"/>
            <a:ext cx="6263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DCE0EE"/>
                </a:solidFill>
                <a:latin typeface="Aptos"/>
              </a:defRPr>
            </a:pPr>
            <a:r>
              <a:t>FastAPI • PostgreSQL / pgvector • SentenceTransformers • Gemini • Docker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5212080"/>
            <a:ext cx="6263640" cy="320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Natural-language queries converted into vector embeddings.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Similarity search performed directly with PostgreSQL pgvector.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Gemini generates contextual recommendations from retrieved results.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FastAPI exposes search and recommendation endpoints with structured schemas.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Optimized model initialization and CPU usage for constrained cloud deployment.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428232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9197AE"/>
                </a:solidFill>
                <a:latin typeface="Aptos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Aptos"/>
              </a:defRPr>
            </a:pPr>
            <a:r>
              <a:t>FEATURED PROJECT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F5F7FF"/>
                </a:solidFill>
                <a:latin typeface="Aptos Display"/>
              </a:defRPr>
            </a:pPr>
            <a:r>
              <a:t>SchoolCom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>
                <a:solidFill>
                  <a:srgbClr val="9197AE"/>
                </a:solidFill>
                <a:latin typeface="Aptos"/>
              </a:defRPr>
            </a:pPr>
            <a:r>
              <a:t>Role-based school management platform built with React Native and Firebase.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10512"/>
            <a:ext cx="1051560" cy="3200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4663440" cy="370332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591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ptos"/>
              </a:defRPr>
            </a:pPr>
            <a:r>
              <a:t>ROLE-BASED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2880360"/>
            <a:ext cx="1234440" cy="566928"/>
          </a:xfrm>
          <a:prstGeom prst="roundRect">
            <a:avLst/>
          </a:prstGeom>
          <a:solidFill>
            <a:srgbClr val="191D2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035808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1">
                <a:solidFill>
                  <a:srgbClr val="F5F7FF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301752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DCE0EE"/>
                </a:solidFill>
                <a:latin typeface="Aptos"/>
              </a:defRPr>
            </a:pPr>
            <a:r>
              <a:t>School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721608"/>
            <a:ext cx="1234440" cy="566928"/>
          </a:xfrm>
          <a:prstGeom prst="roundRect">
            <a:avLst/>
          </a:prstGeom>
          <a:solidFill>
            <a:srgbClr val="191D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877056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1">
                <a:solidFill>
                  <a:srgbClr val="F5F7FF"/>
                </a:solidFill>
                <a:latin typeface="Aptos"/>
              </a:defRPr>
            </a:pPr>
            <a:r>
              <a:t>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385876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DCE0EE"/>
                </a:solidFill>
                <a:latin typeface="Aptos"/>
              </a:defRPr>
            </a:pPr>
            <a:r>
              <a:t>Attendance + assessments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4562856"/>
            <a:ext cx="1234440" cy="566928"/>
          </a:xfrm>
          <a:prstGeom prst="roundRect">
            <a:avLst/>
          </a:prstGeom>
          <a:solidFill>
            <a:srgbClr val="191D2D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718304"/>
            <a:ext cx="1051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1">
                <a:solidFill>
                  <a:srgbClr val="F5F7FF"/>
                </a:solidFill>
                <a:latin typeface="Aptos"/>
              </a:defRPr>
            </a:pPr>
            <a:r>
              <a:t>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" y="4700016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DCE0EE"/>
                </a:solidFill>
                <a:latin typeface="Aptos"/>
              </a:defRPr>
            </a:pPr>
            <a:r>
              <a:t>Student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440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>
                <a:solidFill>
                  <a:srgbClr val="9197AE"/>
                </a:solidFill>
                <a:latin typeface="Aptos"/>
              </a:defRPr>
            </a:pPr>
            <a:r>
              <a:t>Firestore-backed data flows + navigation authorization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2057400"/>
            <a:ext cx="5897880" cy="370332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2057400"/>
            <a:ext cx="50292" cy="3703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70448" y="2313432"/>
            <a:ext cx="82296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350008"/>
            <a:ext cx="67665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Aptos"/>
              </a:defRPr>
            </a:pPr>
            <a:r>
              <a:t>FEATURED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2770632"/>
            <a:ext cx="5303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900" b="1">
                <a:solidFill>
                  <a:srgbClr val="F5F7FF"/>
                </a:solidFill>
                <a:latin typeface="Aptos Display"/>
              </a:defRPr>
            </a:pPr>
            <a:r>
              <a:t>Engineering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182112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3B82F6"/>
                </a:solidFill>
                <a:latin typeface="Aptos"/>
              </a:defRPr>
            </a:pPr>
            <a:r>
              <a:t>MOBILE + BACKEND-DRIVEN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520440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197AE"/>
                </a:solidFill>
                <a:latin typeface="Aptos"/>
              </a:defRPr>
            </a:pPr>
            <a:r>
              <a:t>An actively developed school management platform covering attendance, assessments, student progress tracking, and administrative workflows.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437083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3B82F6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461772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DCE0EE"/>
                </a:solidFill>
                <a:latin typeface="Aptos"/>
              </a:defRPr>
            </a:pPr>
            <a:r>
              <a:t>React Native • Expo • TypeScript • Firebase / Firestore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0448" y="5166360"/>
            <a:ext cx="530352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Implemented Firestore-backed service and UI data flows.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Built role-aware navigation and authorization guards.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Structured the app with modular service and UI layers.</a:t>
            </a:r>
          </a:p>
          <a:p>
            <a:pPr>
              <a:spcAft>
                <a:spcPts val="1000"/>
              </a:spcAft>
              <a:defRPr sz="1050">
                <a:solidFill>
                  <a:srgbClr val="DCE0EE"/>
                </a:solidFill>
                <a:latin typeface="Aptos"/>
              </a:defRPr>
            </a:pPr>
            <a:r>
              <a:t>•  Maintained type safety across an evolving multi-phase roadmap.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428232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9197AE"/>
                </a:solidFill>
                <a:latin typeface="Aptos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Aptos"/>
              </a:defRPr>
            </a:pPr>
            <a:r>
              <a:t>ADDITIONAL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F5F7FF"/>
                </a:solidFill>
                <a:latin typeface="Aptos Display"/>
              </a:defRPr>
            </a:pPr>
            <a:r>
              <a:t>More Systems I've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>
                <a:solidFill>
                  <a:srgbClr val="9197AE"/>
                </a:solidFill>
                <a:latin typeface="Aptos"/>
              </a:defRPr>
            </a:pPr>
            <a:r>
              <a:t>Different domains, same engineering mindset: build, debug, ship, improve.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10512"/>
            <a:ext cx="1051560" cy="3200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440680" cy="178308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50292" cy="178308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350008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Clinical Suite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61488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22D3EE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099815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197AE"/>
                </a:solidFill>
                <a:latin typeface="Aptos"/>
              </a:defRPr>
            </a:pPr>
            <a:r>
              <a:t>Clinical management dashboard with structured data workflows and automated clinical parameter calculators.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95020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22D3EE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197096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DCE0EE"/>
                </a:solidFill>
                <a:latin typeface="Aptos"/>
              </a:defRPr>
            </a:pPr>
            <a:r>
              <a:t>HTML5 • JavaScript • Tailwind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5212080" cy="178308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057400"/>
            <a:ext cx="50292" cy="17830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35000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LDR 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76148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F97316"/>
                </a:solidFill>
                <a:latin typeface="Aptos"/>
              </a:defRPr>
            </a:pPr>
            <a:r>
              <a:t>MOBILE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099815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197AE"/>
                </a:solidFill>
                <a:latin typeface="Aptos"/>
              </a:defRPr>
            </a:pPr>
            <a:r>
              <a:t>Android application with real-time mood synchronization, interactive features, and push notifications.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395020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F97316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197096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DCE0EE"/>
                </a:solidFill>
                <a:latin typeface="Aptos"/>
              </a:defRPr>
            </a:pPr>
            <a:r>
              <a:t>React Native • Firebase Firestore • FCM V1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5440680" cy="178308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160520"/>
            <a:ext cx="50292" cy="17830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453128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Domain Explorer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864608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10B981"/>
                </a:solidFill>
                <a:latin typeface="Aptos"/>
              </a:defRPr>
            </a:pPr>
            <a:r>
              <a:t>BACKEND / WEB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5202936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197AE"/>
                </a:solidFill>
                <a:latin typeface="Aptos"/>
              </a:defRPr>
            </a:pPr>
            <a:r>
              <a:t>Domain management application built with a structured Laravel backend and database workflows.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10B981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6300216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DCE0EE"/>
                </a:solidFill>
                <a:latin typeface="Aptos"/>
              </a:defRPr>
            </a:pPr>
            <a:r>
              <a:t>Laravel • PHP • MySQL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160520"/>
            <a:ext cx="5212080" cy="1783080"/>
          </a:xfrm>
          <a:prstGeom prst="roundRect">
            <a:avLst/>
          </a:prstGeom>
          <a:solidFill>
            <a:srgbClr val="121522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160520"/>
            <a:ext cx="50292" cy="17830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445312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Cloud Inventory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486460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8B5CF6"/>
                </a:solidFill>
                <a:latin typeface="Aptos"/>
              </a:defRPr>
            </a:pPr>
            <a:r>
              <a:t>SERVERLESS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5202936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0">
                <a:solidFill>
                  <a:srgbClr val="9197AE"/>
                </a:solidFill>
                <a:latin typeface="Aptos"/>
              </a:defRPr>
            </a:pPr>
            <a:r>
              <a:t>Inventory workflow with role-based access, audit-oriented operations, and cloud-backed data handling.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1">
                <a:solidFill>
                  <a:srgbClr val="8B5CF6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6300216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1">
                <a:solidFill>
                  <a:srgbClr val="DCE0EE"/>
                </a:solidFill>
                <a:latin typeface="Aptos"/>
              </a:defRPr>
            </a:pPr>
            <a:r>
              <a:t>Google Apps Script • Google Sheets • Drive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6428232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9197AE"/>
                </a:solidFill>
                <a:latin typeface="Aptos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46720" y="-274320"/>
            <a:ext cx="4572000" cy="7315200"/>
          </a:xfrm>
          <a:prstGeom prst="roundRect">
            <a:avLst/>
          </a:prstGeom>
          <a:solidFill>
            <a:srgbClr val="12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640080"/>
            <a:ext cx="324612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2011680"/>
            <a:ext cx="2651760" cy="91440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41080" y="3383280"/>
            <a:ext cx="3337560" cy="11430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81160" y="4892040"/>
            <a:ext cx="269748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LET'S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65836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3500" b="1">
                <a:solidFill>
                  <a:srgbClr val="F5F7FF"/>
                </a:solidFill>
                <a:latin typeface="Aptos Display"/>
              </a:defRPr>
            </a:pPr>
            <a:r>
              <a:t>Ready to contribute,</a:t>
            </a:r>
            <a:br/>
            <a:r>
              <a:t>learn fast, and 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>
                <a:solidFill>
                  <a:srgbClr val="DCE0EE"/>
                </a:solidFill>
                <a:latin typeface="Aptos"/>
              </a:defRPr>
            </a:pPr>
            <a:r>
              <a:t>I'm looking for software engineering opportunities where I can work on real products, collaborate with engineers, and grow through shipping.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128016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562856"/>
            <a:ext cx="113385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Aptos"/>
              </a:defRPr>
            </a:pPr>
            <a:r>
              <a:t>Full-Stack 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4526280"/>
            <a:ext cx="132588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1992" y="4562856"/>
            <a:ext cx="117957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Aptos"/>
              </a:defRPr>
            </a:pPr>
            <a:r>
              <a:t>AI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4526280"/>
            <a:ext cx="1371600" cy="329184"/>
          </a:xfrm>
          <a:prstGeom prst="roundRect">
            <a:avLst/>
          </a:prstGeom>
          <a:solidFill>
            <a:srgbClr val="191D2D"/>
          </a:solidFill>
          <a:ln>
            <a:solidFill>
              <a:srgbClr val="303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4562856"/>
            <a:ext cx="122529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Aptos"/>
              </a:defRPr>
            </a:pPr>
            <a:r>
              <a:t>Backend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F5F7FF"/>
                </a:solidFill>
                <a:latin typeface="Aptos"/>
              </a:defRPr>
            </a:pPr>
            <a:r>
              <a:t>Muhammad Ulul Albab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50" b="0">
                <a:solidFill>
                  <a:srgbClr val="9197AE"/>
                </a:solidFill>
                <a:latin typeface="Aptos"/>
              </a:defRPr>
            </a:pPr>
            <a:r>
              <a:t>ulula2812@gmail.com</a:t>
            </a:r>
            <a:br/>
            <a:r>
              <a:t>+62 895-4147-81707</a:t>
            </a:r>
            <a:br/>
            <a:r>
              <a:t>ulul-portofolio-3odd.vercel.app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126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50" b="1">
                <a:solidFill>
                  <a:srgbClr val="F5F7FF"/>
                </a:solidFill>
                <a:latin typeface="Aptos"/>
              </a:defRPr>
            </a:pPr>
            <a:r>
              <a:t>Bogor • Indonesia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28232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1">
                <a:solidFill>
                  <a:srgbClr val="9197AE"/>
                </a:solidFill>
                <a:latin typeface="Aptos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